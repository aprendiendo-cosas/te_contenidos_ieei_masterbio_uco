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796"/>
    <p:restoredTop sz="94694"/>
  </p:normalViewPr>
  <p:slideViewPr>
    <p:cSldViewPr snapToGrid="0" showGuides="1">
      <p:cViewPr varScale="1">
        <p:scale>
          <a:sx n="117" d="100"/>
          <a:sy n="117" d="100"/>
        </p:scale>
        <p:origin x="1440" y="16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isco Javier Bonet García" userId="c67cd2f5-7354-47bd-a51e-00312a09adde" providerId="ADAL" clId="{0DF02066-978F-134C-BBDF-BDB97B0C5C7D}"/>
    <pc:docChg chg="custSel modSld">
      <pc:chgData name="Francisco Javier Bonet García" userId="c67cd2f5-7354-47bd-a51e-00312a09adde" providerId="ADAL" clId="{0DF02066-978F-134C-BBDF-BDB97B0C5C7D}" dt="2025-04-14T17:47:34.950" v="47" actId="20577"/>
      <pc:docMkLst>
        <pc:docMk/>
      </pc:docMkLst>
      <pc:sldChg chg="delSp modSp mod delAnim">
        <pc:chgData name="Francisco Javier Bonet García" userId="c67cd2f5-7354-47bd-a51e-00312a09adde" providerId="ADAL" clId="{0DF02066-978F-134C-BBDF-BDB97B0C5C7D}" dt="2025-04-14T17:47:34.950" v="47" actId="20577"/>
        <pc:sldMkLst>
          <pc:docMk/>
          <pc:sldMk cId="1438463973" sldId="260"/>
        </pc:sldMkLst>
        <pc:spChg chg="mod">
          <ac:chgData name="Francisco Javier Bonet García" userId="c67cd2f5-7354-47bd-a51e-00312a09adde" providerId="ADAL" clId="{0DF02066-978F-134C-BBDF-BDB97B0C5C7D}" dt="2025-04-14T17:47:34.950" v="47" actId="20577"/>
          <ac:spMkLst>
            <pc:docMk/>
            <pc:sldMk cId="1438463973" sldId="260"/>
            <ac:spMk id="6" creationId="{97092FDB-521E-B646-A447-B64BE5D67B04}"/>
          </ac:spMkLst>
        </pc:spChg>
        <pc:grpChg chg="del">
          <ac:chgData name="Francisco Javier Bonet García" userId="c67cd2f5-7354-47bd-a51e-00312a09adde" providerId="ADAL" clId="{0DF02066-978F-134C-BBDF-BDB97B0C5C7D}" dt="2025-04-14T17:47:04.353" v="0" actId="478"/>
          <ac:grpSpMkLst>
            <pc:docMk/>
            <pc:sldMk cId="1438463973" sldId="260"/>
            <ac:grpSpMk id="3" creationId="{4DB42E63-3B6B-8304-4748-2510D49E318B}"/>
          </ac:grpSpMkLst>
        </pc:grpChg>
        <pc:grpChg chg="mod">
          <ac:chgData name="Francisco Javier Bonet García" userId="c67cd2f5-7354-47bd-a51e-00312a09adde" providerId="ADAL" clId="{0DF02066-978F-134C-BBDF-BDB97B0C5C7D}" dt="2025-04-14T17:47:09.808" v="1" actId="1076"/>
          <ac:grpSpMkLst>
            <pc:docMk/>
            <pc:sldMk cId="1438463973" sldId="260"/>
            <ac:grpSpMk id="4" creationId="{0FAD6912-903B-A61E-69EE-9EA64328BD2B}"/>
          </ac:grpSpMkLst>
        </pc:grpChg>
        <pc:cxnChg chg="mod">
          <ac:chgData name="Francisco Javier Bonet García" userId="c67cd2f5-7354-47bd-a51e-00312a09adde" providerId="ADAL" clId="{0DF02066-978F-134C-BBDF-BDB97B0C5C7D}" dt="2025-04-14T17:47:04.353" v="0" actId="478"/>
          <ac:cxnSpMkLst>
            <pc:docMk/>
            <pc:sldMk cId="1438463973" sldId="260"/>
            <ac:cxnSpMk id="21" creationId="{E7294848-293B-A77F-AB09-25199D05A2F4}"/>
          </ac:cxnSpMkLst>
        </pc:cxnChg>
        <pc:cxnChg chg="mod">
          <ac:chgData name="Francisco Javier Bonet García" userId="c67cd2f5-7354-47bd-a51e-00312a09adde" providerId="ADAL" clId="{0DF02066-978F-134C-BBDF-BDB97B0C5C7D}" dt="2025-04-14T17:47:25.309" v="30" actId="20577"/>
          <ac:cxnSpMkLst>
            <pc:docMk/>
            <pc:sldMk cId="1438463973" sldId="260"/>
            <ac:cxnSpMk id="23" creationId="{CBDE0586-BA88-3D81-8D5B-1EEC2762E6F0}"/>
          </ac:cxnSpMkLst>
        </pc:cxnChg>
      </pc:sldChg>
    </pc:docChg>
  </pc:docChgLst>
  <pc:docChgLst>
    <pc:chgData name="Francisco Javier Bonet García" userId="c67cd2f5-7354-47bd-a51e-00312a09adde" providerId="ADAL" clId="{F334BE95-8B46-9D45-9263-AAAED0A8E1A6}"/>
    <pc:docChg chg="modSld">
      <pc:chgData name="Francisco Javier Bonet García" userId="c67cd2f5-7354-47bd-a51e-00312a09adde" providerId="ADAL" clId="{F334BE95-8B46-9D45-9263-AAAED0A8E1A6}" dt="2025-01-14T05:49:54.926" v="3" actId="1076"/>
      <pc:docMkLst>
        <pc:docMk/>
      </pc:docMkLst>
      <pc:sldChg chg="modSp mod">
        <pc:chgData name="Francisco Javier Bonet García" userId="c67cd2f5-7354-47bd-a51e-00312a09adde" providerId="ADAL" clId="{F334BE95-8B46-9D45-9263-AAAED0A8E1A6}" dt="2025-01-14T05:49:54.926" v="3" actId="1076"/>
        <pc:sldMkLst>
          <pc:docMk/>
          <pc:sldMk cId="2060893351" sldId="256"/>
        </pc:sldMkLst>
        <pc:spChg chg="mod">
          <ac:chgData name="Francisco Javier Bonet García" userId="c67cd2f5-7354-47bd-a51e-00312a09adde" providerId="ADAL" clId="{F334BE95-8B46-9D45-9263-AAAED0A8E1A6}" dt="2025-01-14T05:49:42.810" v="0" actId="1076"/>
          <ac:spMkLst>
            <pc:docMk/>
            <pc:sldMk cId="2060893351" sldId="256"/>
            <ac:spMk id="7" creationId="{22201E96-3CE4-9A54-CB79-E07CC57AF2E0}"/>
          </ac:spMkLst>
        </pc:spChg>
        <pc:spChg chg="mod">
          <ac:chgData name="Francisco Javier Bonet García" userId="c67cd2f5-7354-47bd-a51e-00312a09adde" providerId="ADAL" clId="{F334BE95-8B46-9D45-9263-AAAED0A8E1A6}" dt="2025-01-14T05:49:54.926" v="3" actId="1076"/>
          <ac:spMkLst>
            <pc:docMk/>
            <pc:sldMk cId="2060893351" sldId="256"/>
            <ac:spMk id="8" creationId="{2BE6052C-2305-7199-23B2-10B87068DC8A}"/>
          </ac:spMkLst>
        </pc:spChg>
      </pc:sldChg>
    </pc:docChg>
  </pc:docChgLst>
  <pc:docChgLst>
    <pc:chgData name="Francisco Javier Bonet García" userId="c67cd2f5-7354-47bd-a51e-00312a09adde" providerId="ADAL" clId="{C069585D-F5EA-B842-A353-B3764E2F3A93}"/>
    <pc:docChg chg="modSld">
      <pc:chgData name="Francisco Javier Bonet García" userId="c67cd2f5-7354-47bd-a51e-00312a09adde" providerId="ADAL" clId="{C069585D-F5EA-B842-A353-B3764E2F3A93}" dt="2025-01-13T21:28:17.342" v="27"/>
      <pc:docMkLst>
        <pc:docMk/>
      </pc:docMkLst>
      <pc:sldChg chg="modAnim">
        <pc:chgData name="Francisco Javier Bonet García" userId="c67cd2f5-7354-47bd-a51e-00312a09adde" providerId="ADAL" clId="{C069585D-F5EA-B842-A353-B3764E2F3A93}" dt="2025-01-13T21:26:06.088" v="1"/>
        <pc:sldMkLst>
          <pc:docMk/>
          <pc:sldMk cId="2184591170" sldId="257"/>
        </pc:sldMkLst>
      </pc:sldChg>
      <pc:sldChg chg="modAnim">
        <pc:chgData name="Francisco Javier Bonet García" userId="c67cd2f5-7354-47bd-a51e-00312a09adde" providerId="ADAL" clId="{C069585D-F5EA-B842-A353-B3764E2F3A93}" dt="2025-01-13T21:26:12.050" v="3"/>
        <pc:sldMkLst>
          <pc:docMk/>
          <pc:sldMk cId="834244825" sldId="258"/>
        </pc:sldMkLst>
      </pc:sldChg>
      <pc:sldChg chg="addSp modSp mod modAnim">
        <pc:chgData name="Francisco Javier Bonet García" userId="c67cd2f5-7354-47bd-a51e-00312a09adde" providerId="ADAL" clId="{C069585D-F5EA-B842-A353-B3764E2F3A93}" dt="2025-01-13T21:27:13.039" v="19"/>
        <pc:sldMkLst>
          <pc:docMk/>
          <pc:sldMk cId="1586375462" sldId="259"/>
        </pc:sldMkLst>
      </pc:sldChg>
      <pc:sldChg chg="addSp modSp modAnim">
        <pc:chgData name="Francisco Javier Bonet García" userId="c67cd2f5-7354-47bd-a51e-00312a09adde" providerId="ADAL" clId="{C069585D-F5EA-B842-A353-B3764E2F3A93}" dt="2025-01-13T21:28:17.342" v="27"/>
        <pc:sldMkLst>
          <pc:docMk/>
          <pc:sldMk cId="1438463973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DD734-ED03-654B-AB4F-7200E4D8D114}" type="datetimeFigureOut">
              <a:rPr lang="en-ES" smtClean="0"/>
              <a:t>12/1/26</a:t>
            </a:fld>
            <a:endParaRPr lang="en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A719-D247-DE44-BB29-A8B531EFE1CD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408358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DD734-ED03-654B-AB4F-7200E4D8D114}" type="datetimeFigureOut">
              <a:rPr lang="en-ES" smtClean="0"/>
              <a:t>12/1/26</a:t>
            </a:fld>
            <a:endParaRPr lang="en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A719-D247-DE44-BB29-A8B531EFE1CD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153553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DD734-ED03-654B-AB4F-7200E4D8D114}" type="datetimeFigureOut">
              <a:rPr lang="en-ES" smtClean="0"/>
              <a:t>12/1/26</a:t>
            </a:fld>
            <a:endParaRPr lang="en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A719-D247-DE44-BB29-A8B531EFE1CD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03699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DD734-ED03-654B-AB4F-7200E4D8D114}" type="datetimeFigureOut">
              <a:rPr lang="en-ES" smtClean="0"/>
              <a:t>12/1/26</a:t>
            </a:fld>
            <a:endParaRPr lang="en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A719-D247-DE44-BB29-A8B531EFE1CD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261072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DD734-ED03-654B-AB4F-7200E4D8D114}" type="datetimeFigureOut">
              <a:rPr lang="en-ES" smtClean="0"/>
              <a:t>12/1/26</a:t>
            </a:fld>
            <a:endParaRPr lang="en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A719-D247-DE44-BB29-A8B531EFE1CD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911623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DD734-ED03-654B-AB4F-7200E4D8D114}" type="datetimeFigureOut">
              <a:rPr lang="en-ES" smtClean="0"/>
              <a:t>12/1/26</a:t>
            </a:fld>
            <a:endParaRPr lang="en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A719-D247-DE44-BB29-A8B531EFE1CD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394517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DD734-ED03-654B-AB4F-7200E4D8D114}" type="datetimeFigureOut">
              <a:rPr lang="en-ES" smtClean="0"/>
              <a:t>12/1/26</a:t>
            </a:fld>
            <a:endParaRPr lang="en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A719-D247-DE44-BB29-A8B531EFE1CD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459141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DD734-ED03-654B-AB4F-7200E4D8D114}" type="datetimeFigureOut">
              <a:rPr lang="en-ES" smtClean="0"/>
              <a:t>12/1/26</a:t>
            </a:fld>
            <a:endParaRPr lang="en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A719-D247-DE44-BB29-A8B531EFE1CD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65129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DD734-ED03-654B-AB4F-7200E4D8D114}" type="datetimeFigureOut">
              <a:rPr lang="en-ES" smtClean="0"/>
              <a:t>12/1/26</a:t>
            </a:fld>
            <a:endParaRPr lang="en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A719-D247-DE44-BB29-A8B531EFE1CD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519327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DD734-ED03-654B-AB4F-7200E4D8D114}" type="datetimeFigureOut">
              <a:rPr lang="en-ES" smtClean="0"/>
              <a:t>12/1/26</a:t>
            </a:fld>
            <a:endParaRPr lang="en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A719-D247-DE44-BB29-A8B531EFE1CD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52980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DD734-ED03-654B-AB4F-7200E4D8D114}" type="datetimeFigureOut">
              <a:rPr lang="en-ES" smtClean="0"/>
              <a:t>12/1/26</a:t>
            </a:fld>
            <a:endParaRPr lang="en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A719-D247-DE44-BB29-A8B531EFE1CD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087559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6DD734-ED03-654B-AB4F-7200E4D8D114}" type="datetimeFigureOut">
              <a:rPr lang="en-ES" smtClean="0"/>
              <a:t>12/1/26</a:t>
            </a:fld>
            <a:endParaRPr lang="en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99A719-D247-DE44-BB29-A8B531EFE1CD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55416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mailto:fjbonet@uco.e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mailto:b02murej@uco.es" TargetMode="Externa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C1EBD07-386A-390A-8597-78AAA877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654" y="5006867"/>
            <a:ext cx="1500366" cy="1145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201E96-3CE4-9A54-CB79-E07CC57AF2E0}"/>
              </a:ext>
            </a:extLst>
          </p:cNvPr>
          <p:cNvSpPr txBox="1"/>
          <p:nvPr/>
        </p:nvSpPr>
        <p:spPr>
          <a:xfrm>
            <a:off x="1821996" y="1461159"/>
            <a:ext cx="5934756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ES" sz="5000" dirty="0">
                <a:latin typeface="Arial" panose="020B0604020202020204" pitchFamily="34" charset="0"/>
                <a:cs typeface="Arial" panose="020B0604020202020204" pitchFamily="34" charset="0"/>
              </a:rPr>
              <a:t>Interacciones Ecológicas y Especies Invasoras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E6052C-2305-7199-23B2-10B87068DC8A}"/>
              </a:ext>
            </a:extLst>
          </p:cNvPr>
          <p:cNvSpPr txBox="1"/>
          <p:nvPr/>
        </p:nvSpPr>
        <p:spPr>
          <a:xfrm>
            <a:off x="7347285" y="5071714"/>
            <a:ext cx="22734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sz="1500" dirty="0"/>
              <a:t>Máster universitario en gestión ambiental y biodiversidad</a:t>
            </a:r>
          </a:p>
          <a:p>
            <a:pPr algn="ctr"/>
            <a:r>
              <a:rPr lang="en-ES" sz="1500" dirty="0"/>
              <a:t>Curso 2025-2026</a:t>
            </a:r>
          </a:p>
        </p:txBody>
      </p:sp>
    </p:spTree>
    <p:extLst>
      <p:ext uri="{BB962C8B-B14F-4D97-AF65-F5344CB8AC3E}">
        <p14:creationId xmlns:p14="http://schemas.microsoft.com/office/powerpoint/2010/main" val="2060893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6A29F2-E6E3-0879-3383-BF3023841821}"/>
              </a:ext>
            </a:extLst>
          </p:cNvPr>
          <p:cNvSpPr txBox="1"/>
          <p:nvPr/>
        </p:nvSpPr>
        <p:spPr>
          <a:xfrm>
            <a:off x="497150" y="246334"/>
            <a:ext cx="87267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ES" sz="4000" b="1" dirty="0">
                <a:latin typeface="Arial" panose="020B0604020202020204" pitchFamily="34" charset="0"/>
                <a:cs typeface="Arial" panose="020B0604020202020204" pitchFamily="34" charset="0"/>
              </a:rPr>
              <a:t>Objetivos de la asignatura</a:t>
            </a:r>
            <a:endParaRPr lang="en-E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3DA40B-4D4A-399E-F1DD-D83F6EFA743F}"/>
              </a:ext>
            </a:extLst>
          </p:cNvPr>
          <p:cNvSpPr txBox="1"/>
          <p:nvPr/>
        </p:nvSpPr>
        <p:spPr>
          <a:xfrm>
            <a:off x="693013" y="2053379"/>
            <a:ext cx="84332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2165" indent="-232165">
              <a:buFont typeface="Arial" panose="020B0604020202020204" pitchFamily="34" charset="0"/>
              <a:buChar char="•"/>
            </a:pPr>
            <a:r>
              <a:rPr lang="en-ES" sz="2800" dirty="0">
                <a:latin typeface="Arial" panose="020B0604020202020204" pitchFamily="34" charset="0"/>
                <a:cs typeface="Arial" panose="020B0604020202020204" pitchFamily="34" charset="0"/>
              </a:rPr>
              <a:t>Entender con profundidad el concepto de invasión biológica desde el punto de vista de las interacciones ecológicas.</a:t>
            </a:r>
          </a:p>
          <a:p>
            <a:pPr marL="232165" indent="-232165">
              <a:buFont typeface="Arial" panose="020B0604020202020204" pitchFamily="34" charset="0"/>
              <a:buChar char="•"/>
            </a:pPr>
            <a:r>
              <a:rPr lang="en-ES" sz="2800" dirty="0">
                <a:latin typeface="Arial" panose="020B0604020202020204" pitchFamily="34" charset="0"/>
                <a:cs typeface="Arial" panose="020B0604020202020204" pitchFamily="34" charset="0"/>
              </a:rPr>
              <a:t>Conocer casos particulares de invasiones biológicas en nuestro territorio.</a:t>
            </a:r>
          </a:p>
          <a:p>
            <a:pPr marL="232165" indent="-232165">
              <a:buFont typeface="Arial" panose="020B0604020202020204" pitchFamily="34" charset="0"/>
              <a:buChar char="•"/>
            </a:pPr>
            <a:r>
              <a:rPr lang="en-ES" sz="2800" dirty="0">
                <a:latin typeface="Arial" panose="020B0604020202020204" pitchFamily="34" charset="0"/>
                <a:cs typeface="Arial" panose="020B0604020202020204" pitchFamily="34" charset="0"/>
              </a:rPr>
              <a:t>Aprender algunos casos de estudio sobre intentos de erradicación y/o control de especies invasoras en nuestro territorio.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4DFA86-9D9B-6814-D798-4B88AF7523BB}"/>
              </a:ext>
            </a:extLst>
          </p:cNvPr>
          <p:cNvSpPr txBox="1"/>
          <p:nvPr/>
        </p:nvSpPr>
        <p:spPr>
          <a:xfrm>
            <a:off x="693013" y="1256760"/>
            <a:ext cx="79736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3200" i="1" u="sng" dirty="0">
                <a:latin typeface="Arial" panose="020B0604020202020204" pitchFamily="34" charset="0"/>
                <a:cs typeface="Arial" panose="020B0604020202020204" pitchFamily="34" charset="0"/>
              </a:rPr>
              <a:t>Disciplinares (relacionados con la biología)</a:t>
            </a:r>
          </a:p>
        </p:txBody>
      </p:sp>
    </p:spTree>
    <p:extLst>
      <p:ext uri="{BB962C8B-B14F-4D97-AF65-F5344CB8AC3E}">
        <p14:creationId xmlns:p14="http://schemas.microsoft.com/office/powerpoint/2010/main" val="2184591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FD82D-ABD6-4742-0111-CFC8CA5CB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353E3B-CA8C-D5B0-A26A-5BDCCB081884}"/>
              </a:ext>
            </a:extLst>
          </p:cNvPr>
          <p:cNvSpPr txBox="1"/>
          <p:nvPr/>
        </p:nvSpPr>
        <p:spPr>
          <a:xfrm>
            <a:off x="595358" y="2080010"/>
            <a:ext cx="816690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2165" indent="-232165">
              <a:buFont typeface="Arial" panose="020B0604020202020204" pitchFamily="34" charset="0"/>
              <a:buChar char="•"/>
            </a:pPr>
            <a:r>
              <a:rPr lang="en-ES" sz="2800" dirty="0">
                <a:latin typeface="Arial" panose="020B0604020202020204" pitchFamily="34" charset="0"/>
                <a:cs typeface="Arial" panose="020B0604020202020204" pitchFamily="34" charset="0"/>
              </a:rPr>
              <a:t>Mejorar las habilidades de búsqueda y análisis de bibliografía científica.</a:t>
            </a:r>
          </a:p>
          <a:p>
            <a:pPr marL="232165" indent="-232165">
              <a:buFont typeface="Arial" panose="020B0604020202020204" pitchFamily="34" charset="0"/>
              <a:buChar char="•"/>
            </a:pPr>
            <a:r>
              <a:rPr lang="en-ES" sz="2800" dirty="0">
                <a:latin typeface="Arial" panose="020B0604020202020204" pitchFamily="34" charset="0"/>
                <a:cs typeface="Arial" panose="020B0604020202020204" pitchFamily="34" charset="0"/>
              </a:rPr>
              <a:t>Avanzar en la construcción de hilos argumentales y su exposición oral.</a:t>
            </a:r>
          </a:p>
          <a:p>
            <a:pPr marL="232165" indent="-232165">
              <a:buFont typeface="Arial" panose="020B0604020202020204" pitchFamily="34" charset="0"/>
              <a:buChar char="•"/>
            </a:pPr>
            <a:r>
              <a:rPr lang="en-ES" sz="2800" dirty="0">
                <a:latin typeface="Arial" panose="020B0604020202020204" pitchFamily="34" charset="0"/>
                <a:cs typeface="Arial" panose="020B0604020202020204" pitchFamily="34" charset="0"/>
              </a:rPr>
              <a:t>Aprender a usar herramientas de IA como promotoras del aprendizaje profundo.</a:t>
            </a:r>
          </a:p>
          <a:p>
            <a:pPr marL="232165" indent="-232165">
              <a:buFont typeface="Arial" panose="020B0604020202020204" pitchFamily="34" charset="0"/>
              <a:buChar char="•"/>
            </a:pPr>
            <a:r>
              <a:rPr lang="en-ES" sz="2800" dirty="0">
                <a:latin typeface="Arial" panose="020B0604020202020204" pitchFamily="34" charset="0"/>
                <a:cs typeface="Arial" panose="020B0604020202020204" pitchFamily="34" charset="0"/>
              </a:rPr>
              <a:t>Usar los mapas mentales y conceptuales como herramientas de síntesis de información.</a:t>
            </a:r>
          </a:p>
          <a:p>
            <a:pPr marL="232165" indent="-232165">
              <a:buFont typeface="Arial" panose="020B0604020202020204" pitchFamily="34" charset="0"/>
              <a:buChar char="•"/>
            </a:pPr>
            <a:endParaRPr lang="en-E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5D6F75-AA52-FE61-DD12-0CEED07EE8F6}"/>
              </a:ext>
            </a:extLst>
          </p:cNvPr>
          <p:cNvSpPr txBox="1"/>
          <p:nvPr/>
        </p:nvSpPr>
        <p:spPr>
          <a:xfrm>
            <a:off x="595359" y="1354415"/>
            <a:ext cx="85811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3200" i="1" u="sng" dirty="0">
                <a:latin typeface="Arial" panose="020B0604020202020204" pitchFamily="34" charset="0"/>
                <a:cs typeface="Arial" panose="020B0604020202020204" pitchFamily="34" charset="0"/>
              </a:rPr>
              <a:t>Transversales (implican a distintas disciplinas)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22A626-CF20-FEA9-1424-290D705B7C3F}"/>
              </a:ext>
            </a:extLst>
          </p:cNvPr>
          <p:cNvSpPr txBox="1"/>
          <p:nvPr/>
        </p:nvSpPr>
        <p:spPr>
          <a:xfrm>
            <a:off x="497150" y="246334"/>
            <a:ext cx="87267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ES" sz="4000" b="1" dirty="0">
                <a:latin typeface="Arial" panose="020B0604020202020204" pitchFamily="34" charset="0"/>
                <a:cs typeface="Arial" panose="020B0604020202020204" pitchFamily="34" charset="0"/>
              </a:rPr>
              <a:t>Objetivos de la asignatura</a:t>
            </a:r>
            <a:endParaRPr lang="en-E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244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13E64B-D03D-F559-8BFC-B57C71719B9D}"/>
              </a:ext>
            </a:extLst>
          </p:cNvPr>
          <p:cNvSpPr txBox="1"/>
          <p:nvPr/>
        </p:nvSpPr>
        <p:spPr>
          <a:xfrm>
            <a:off x="958788" y="127915"/>
            <a:ext cx="84838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ES" sz="4000" b="1" dirty="0">
                <a:latin typeface="Arial" panose="020B0604020202020204" pitchFamily="34" charset="0"/>
                <a:cs typeface="Arial" panose="020B0604020202020204" pitchFamily="34" charset="0"/>
              </a:rPr>
              <a:t>Profesores de la asignatura </a:t>
            </a:r>
            <a:r>
              <a:rPr lang="en-ES" sz="1000" b="1" dirty="0">
                <a:latin typeface="Arial" panose="020B0604020202020204" pitchFamily="34" charset="0"/>
                <a:cs typeface="Arial" panose="020B0604020202020204" pitchFamily="34" charset="0"/>
              </a:rPr>
              <a:t>(por orden de aparición)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72D76A2-EFDE-B10B-11F9-28D5C792B15B}"/>
              </a:ext>
            </a:extLst>
          </p:cNvPr>
          <p:cNvGrpSpPr/>
          <p:nvPr/>
        </p:nvGrpSpPr>
        <p:grpSpPr>
          <a:xfrm>
            <a:off x="541538" y="1624618"/>
            <a:ext cx="2815173" cy="1438182"/>
            <a:chOff x="541538" y="1624618"/>
            <a:chExt cx="2815173" cy="1438182"/>
          </a:xfrm>
        </p:grpSpPr>
        <p:sp>
          <p:nvSpPr>
            <p:cNvPr id="11" name="Google Shape;253;p6">
              <a:extLst>
                <a:ext uri="{FF2B5EF4-FFF2-40B4-BE49-F238E27FC236}">
                  <a16:creationId xmlns:a16="http://schemas.microsoft.com/office/drawing/2014/main" id="{9A14E3CA-CC8E-401B-8013-E6C5893D4E11}"/>
                </a:ext>
              </a:extLst>
            </p:cNvPr>
            <p:cNvSpPr txBox="1"/>
            <p:nvPr/>
          </p:nvSpPr>
          <p:spPr>
            <a:xfrm>
              <a:off x="1721072" y="1750855"/>
              <a:ext cx="1635639" cy="12497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4283" tIns="37131" rIns="74283" bIns="37131" anchor="t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s-ES" sz="975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Curro Bonet García. Departamento de Botánica, Ecología y Fisiología Vegetal. </a:t>
              </a:r>
              <a:r>
                <a:rPr lang="es-ES" sz="975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Universidad de Córdoba.</a:t>
              </a:r>
              <a:endParaRPr sz="975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>
                <a:buClr>
                  <a:schemeClr val="dk1"/>
                </a:buClr>
                <a:buSzPts val="1200"/>
              </a:pPr>
              <a:r>
                <a:rPr lang="es-ES" sz="975" u="sng" dirty="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  <a:hlinkClick r:id="rId2"/>
                </a:rPr>
                <a:t>fjbonet@uco.es</a:t>
              </a:r>
              <a:r>
                <a:rPr lang="es-ES" sz="975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</a:p>
            <a:p>
              <a:pPr>
                <a:buClr>
                  <a:schemeClr val="dk1"/>
                </a:buClr>
                <a:buSzPts val="1200"/>
              </a:pPr>
              <a:r>
                <a:rPr lang="es-ES" sz="975" i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Coordinador de la asignatura</a:t>
              </a:r>
              <a:endParaRPr sz="975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>
                <a:buClr>
                  <a:schemeClr val="dk1"/>
                </a:buClr>
                <a:buSzPts val="1200"/>
              </a:pPr>
              <a:endParaRPr sz="975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" name="Google Shape;254;p6">
              <a:extLst>
                <a:ext uri="{FF2B5EF4-FFF2-40B4-BE49-F238E27FC236}">
                  <a16:creationId xmlns:a16="http://schemas.microsoft.com/office/drawing/2014/main" id="{BB9B90CA-38B9-C235-AD9A-A3866F8B2B2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9009" r="8407"/>
            <a:stretch/>
          </p:blipFill>
          <p:spPr>
            <a:xfrm>
              <a:off x="677876" y="1777490"/>
              <a:ext cx="927143" cy="11403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A8A476A-C40D-CE4B-5F3E-73BF6BD58BC1}"/>
                </a:ext>
              </a:extLst>
            </p:cNvPr>
            <p:cNvSpPr/>
            <p:nvPr/>
          </p:nvSpPr>
          <p:spPr>
            <a:xfrm>
              <a:off x="541538" y="1624618"/>
              <a:ext cx="2815173" cy="14381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4E360B4-F293-E6A3-BB2B-F69E403CBA39}"/>
              </a:ext>
            </a:extLst>
          </p:cNvPr>
          <p:cNvGrpSpPr/>
          <p:nvPr/>
        </p:nvGrpSpPr>
        <p:grpSpPr>
          <a:xfrm>
            <a:off x="541538" y="5007010"/>
            <a:ext cx="2815173" cy="1438182"/>
            <a:chOff x="541538" y="5007010"/>
            <a:chExt cx="2815173" cy="1438182"/>
          </a:xfrm>
        </p:grpSpPr>
        <p:pic>
          <p:nvPicPr>
            <p:cNvPr id="4098" name="Picture 2" descr="Carlos FERNANDEZ-DELGADO | Catedrático de Universidad ...">
              <a:extLst>
                <a:ext uri="{FF2B5EF4-FFF2-40B4-BE49-F238E27FC236}">
                  <a16:creationId xmlns:a16="http://schemas.microsoft.com/office/drawing/2014/main" id="{930CFBC6-515E-1FD8-886B-613CB63BA58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200" t="3316" r="26704" b="42170"/>
            <a:stretch/>
          </p:blipFill>
          <p:spPr bwMode="auto">
            <a:xfrm>
              <a:off x="677876" y="5164422"/>
              <a:ext cx="927143" cy="11207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Google Shape;253;p6">
              <a:extLst>
                <a:ext uri="{FF2B5EF4-FFF2-40B4-BE49-F238E27FC236}">
                  <a16:creationId xmlns:a16="http://schemas.microsoft.com/office/drawing/2014/main" id="{42555499-F0E2-84E6-1E99-289B0A31D1F8}"/>
                </a:ext>
              </a:extLst>
            </p:cNvPr>
            <p:cNvSpPr txBox="1"/>
            <p:nvPr/>
          </p:nvSpPr>
          <p:spPr>
            <a:xfrm>
              <a:off x="1721072" y="5250660"/>
              <a:ext cx="1635639" cy="8752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4283" tIns="37131" rIns="74283" bIns="37131" anchor="t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s-ES" sz="975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Carlos Fernández Delgado</a:t>
              </a:r>
            </a:p>
            <a:p>
              <a:pPr>
                <a:buClr>
                  <a:srgbClr val="000000"/>
                </a:buClr>
                <a:buSzPts val="1200"/>
              </a:pPr>
              <a:r>
                <a:rPr lang="es-ES" sz="975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Departamento de Zoología.</a:t>
              </a:r>
            </a:p>
            <a:p>
              <a:pPr>
                <a:buClr>
                  <a:srgbClr val="000000"/>
                </a:buClr>
                <a:buSzPts val="1200"/>
              </a:pPr>
              <a:r>
                <a:rPr lang="es-ES" sz="975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Universidad de Córdoba.</a:t>
              </a:r>
              <a:endParaRPr sz="975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>
                <a:buClr>
                  <a:schemeClr val="dk1"/>
                </a:buClr>
                <a:buSzPts val="1200"/>
              </a:pPr>
              <a:r>
                <a:rPr lang="es-ES" sz="975" u="sng" dirty="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ba1fedec@uco.es </a:t>
              </a:r>
            </a:p>
            <a:p>
              <a:pPr>
                <a:buClr>
                  <a:schemeClr val="dk1"/>
                </a:buClr>
                <a:buSzPts val="1200"/>
              </a:pPr>
              <a:endParaRPr sz="975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C482C43-0BD9-4992-3923-EC7F8DB4B692}"/>
                </a:ext>
              </a:extLst>
            </p:cNvPr>
            <p:cNvSpPr/>
            <p:nvPr/>
          </p:nvSpPr>
          <p:spPr>
            <a:xfrm>
              <a:off x="541538" y="5007010"/>
              <a:ext cx="2815173" cy="14381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E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1CF88D7E-484E-39EE-0530-A88F7A7CB2D3}"/>
              </a:ext>
            </a:extLst>
          </p:cNvPr>
          <p:cNvSpPr txBox="1"/>
          <p:nvPr/>
        </p:nvSpPr>
        <p:spPr>
          <a:xfrm>
            <a:off x="958788" y="696086"/>
            <a:ext cx="84838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n-GB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contenidos</a:t>
            </a:r>
            <a:endParaRPr lang="en-E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1EA3A4-5330-49ED-8E9C-C20C76486A84}"/>
              </a:ext>
            </a:extLst>
          </p:cNvPr>
          <p:cNvSpPr txBox="1"/>
          <p:nvPr/>
        </p:nvSpPr>
        <p:spPr>
          <a:xfrm>
            <a:off x="3742184" y="1673938"/>
            <a:ext cx="37065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ES" dirty="0">
                <a:latin typeface="Arial" panose="020B0604020202020204" pitchFamily="34" charset="0"/>
                <a:cs typeface="Arial" panose="020B0604020202020204" pitchFamily="34" charset="0"/>
              </a:rPr>
              <a:t>Conceptos generales.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ES" dirty="0">
                <a:latin typeface="Arial" panose="020B0604020202020204" pitchFamily="34" charset="0"/>
                <a:cs typeface="Arial" panose="020B0604020202020204" pitchFamily="34" charset="0"/>
              </a:rPr>
              <a:t>Impactos ambientales de las invasiones.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ES" dirty="0">
                <a:latin typeface="Arial" panose="020B0604020202020204" pitchFamily="34" charset="0"/>
                <a:cs typeface="Arial" panose="020B0604020202020204" pitchFamily="34" charset="0"/>
              </a:rPr>
              <a:t>El proceso de invasión biológica.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E13821-EE89-4006-0B1C-D17D95E53EF4}"/>
              </a:ext>
            </a:extLst>
          </p:cNvPr>
          <p:cNvSpPr txBox="1"/>
          <p:nvPr/>
        </p:nvSpPr>
        <p:spPr>
          <a:xfrm>
            <a:off x="3675743" y="5202570"/>
            <a:ext cx="3772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ES" dirty="0">
                <a:latin typeface="Arial" panose="020B0604020202020204" pitchFamily="34" charset="0"/>
                <a:cs typeface="Arial" panose="020B0604020202020204" pitchFamily="34" charset="0"/>
              </a:rPr>
              <a:t>Casos de estudio sobre proyectos de erradicación y control de invasoras.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CA5B74-2094-A0C3-FCC6-559001A73852}"/>
              </a:ext>
            </a:extLst>
          </p:cNvPr>
          <p:cNvSpPr txBox="1"/>
          <p:nvPr/>
        </p:nvSpPr>
        <p:spPr>
          <a:xfrm>
            <a:off x="3742184" y="3557193"/>
            <a:ext cx="36400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ES" dirty="0">
                <a:latin typeface="Arial" panose="020B0604020202020204" pitchFamily="34" charset="0"/>
                <a:cs typeface="Arial" panose="020B0604020202020204" pitchFamily="34" charset="0"/>
              </a:rPr>
              <a:t>Ejemplos de invasiones según los conceptos del bloque anterior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F69DD9-3B04-26A8-2EFE-8229F2A9E0B4}"/>
              </a:ext>
            </a:extLst>
          </p:cNvPr>
          <p:cNvSpPr txBox="1"/>
          <p:nvPr/>
        </p:nvSpPr>
        <p:spPr>
          <a:xfrm>
            <a:off x="8023934" y="2039912"/>
            <a:ext cx="1340528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E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sesiones de 2 horas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F7C7E3-24F7-AEEC-4460-AC55CDBFF53C}"/>
              </a:ext>
            </a:extLst>
          </p:cNvPr>
          <p:cNvSpPr txBox="1"/>
          <p:nvPr/>
        </p:nvSpPr>
        <p:spPr>
          <a:xfrm>
            <a:off x="8023934" y="3705175"/>
            <a:ext cx="1340528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E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sesiones de 2 horas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AFBB72-C52F-0BBD-51E1-AE50E1C9D143}"/>
              </a:ext>
            </a:extLst>
          </p:cNvPr>
          <p:cNvSpPr txBox="1"/>
          <p:nvPr/>
        </p:nvSpPr>
        <p:spPr>
          <a:xfrm>
            <a:off x="8023934" y="5341069"/>
            <a:ext cx="1340528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E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sesiones de 2 horas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46A9334-5834-D5AF-B4CC-E12361A42B85}"/>
              </a:ext>
            </a:extLst>
          </p:cNvPr>
          <p:cNvGrpSpPr/>
          <p:nvPr/>
        </p:nvGrpSpPr>
        <p:grpSpPr>
          <a:xfrm>
            <a:off x="533220" y="3315814"/>
            <a:ext cx="2823491" cy="1438182"/>
            <a:chOff x="533220" y="3315814"/>
            <a:chExt cx="2823491" cy="143818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65080CC-014D-4C8E-1265-6A7491F6B821}"/>
                </a:ext>
              </a:extLst>
            </p:cNvPr>
            <p:cNvGrpSpPr/>
            <p:nvPr/>
          </p:nvGrpSpPr>
          <p:grpSpPr>
            <a:xfrm>
              <a:off x="541538" y="3315814"/>
              <a:ext cx="2815173" cy="1438182"/>
              <a:chOff x="541538" y="3315814"/>
              <a:chExt cx="2815173" cy="1438182"/>
            </a:xfrm>
          </p:grpSpPr>
          <p:sp>
            <p:nvSpPr>
              <p:cNvPr id="15" name="Google Shape;253;p6">
                <a:extLst>
                  <a:ext uri="{FF2B5EF4-FFF2-40B4-BE49-F238E27FC236}">
                    <a16:creationId xmlns:a16="http://schemas.microsoft.com/office/drawing/2014/main" id="{B6A2B859-616F-FD55-2CFC-9DE5360BC30A}"/>
                  </a:ext>
                </a:extLst>
              </p:cNvPr>
              <p:cNvSpPr txBox="1"/>
              <p:nvPr/>
            </p:nvSpPr>
            <p:spPr>
              <a:xfrm>
                <a:off x="1721072" y="3503955"/>
                <a:ext cx="1635639" cy="875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4283" tIns="37131" rIns="74283" bIns="37131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200"/>
                </a:pPr>
                <a:r>
                  <a:rPr lang="es-ES" sz="975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Jaime A. Muriel Redondo</a:t>
                </a:r>
              </a:p>
              <a:p>
                <a:pPr>
                  <a:buClr>
                    <a:srgbClr val="000000"/>
                  </a:buClr>
                  <a:buSzPts val="1200"/>
                </a:pPr>
                <a:r>
                  <a:rPr lang="es-ES" sz="975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Departamento de Zoología.</a:t>
                </a:r>
              </a:p>
              <a:p>
                <a:pPr>
                  <a:buClr>
                    <a:srgbClr val="000000"/>
                  </a:buClr>
                  <a:buSzPts val="1200"/>
                </a:pPr>
                <a:r>
                  <a:rPr lang="es-ES" sz="975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Universidad de Córdoba.</a:t>
                </a:r>
                <a:endParaRPr sz="975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>
                  <a:buClr>
                    <a:schemeClr val="dk1"/>
                  </a:buClr>
                  <a:buSzPts val="1200"/>
                </a:pPr>
                <a:r>
                  <a:rPr lang="en-GB" sz="1000" dirty="0">
                    <a:hlinkClick r:id="rId5"/>
                  </a:rPr>
                  <a:t>b02murej@uco.es</a:t>
                </a:r>
                <a:r>
                  <a:rPr lang="en-GB" sz="1000" dirty="0"/>
                  <a:t> </a:t>
                </a:r>
                <a:endParaRPr sz="975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918A96F-63EF-B5E4-AFC7-F9C694E5CE8B}"/>
                  </a:ext>
                </a:extLst>
              </p:cNvPr>
              <p:cNvSpPr/>
              <p:nvPr/>
            </p:nvSpPr>
            <p:spPr>
              <a:xfrm>
                <a:off x="541538" y="3315814"/>
                <a:ext cx="2815173" cy="14381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ES"/>
              </a:p>
            </p:txBody>
          </p:sp>
        </p:grpSp>
        <p:pic>
          <p:nvPicPr>
            <p:cNvPr id="1026" name="Picture 2" descr="Jaime Alejandro Muriel Redondo">
              <a:extLst>
                <a:ext uri="{FF2B5EF4-FFF2-40B4-BE49-F238E27FC236}">
                  <a16:creationId xmlns:a16="http://schemas.microsoft.com/office/drawing/2014/main" id="{0112BF41-9BA5-A522-FAEF-61836D0BE6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220" y="3429000"/>
              <a:ext cx="1187852" cy="11878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86375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 animBg="1"/>
      <p:bldP spid="28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CEDA6-DE93-80B8-0D37-298A63755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BC0A86-1F06-BE42-BD67-62286DC1E324}"/>
              </a:ext>
            </a:extLst>
          </p:cNvPr>
          <p:cNvSpPr txBox="1"/>
          <p:nvPr/>
        </p:nvSpPr>
        <p:spPr>
          <a:xfrm>
            <a:off x="497150" y="246334"/>
            <a:ext cx="87267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ES" sz="4000" b="1" dirty="0">
                <a:latin typeface="Arial" panose="020B0604020202020204" pitchFamily="34" charset="0"/>
                <a:cs typeface="Arial" panose="020B0604020202020204" pitchFamily="34" charset="0"/>
              </a:rPr>
              <a:t>Calificación</a:t>
            </a:r>
            <a:endParaRPr lang="en-E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B8C1AE-579D-AA99-F70A-3D5E24FCD712}"/>
              </a:ext>
            </a:extLst>
          </p:cNvPr>
          <p:cNvSpPr txBox="1"/>
          <p:nvPr/>
        </p:nvSpPr>
        <p:spPr>
          <a:xfrm>
            <a:off x="1225125" y="5528606"/>
            <a:ext cx="103105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ES" dirty="0"/>
              <a:t>Examen</a:t>
            </a:r>
          </a:p>
          <a:p>
            <a:r>
              <a:rPr lang="en-ES" b="1" dirty="0"/>
              <a:t>(40%)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7069FD-FA08-C921-85BF-955057E791AF}"/>
              </a:ext>
            </a:extLst>
          </p:cNvPr>
          <p:cNvSpPr txBox="1"/>
          <p:nvPr/>
        </p:nvSpPr>
        <p:spPr>
          <a:xfrm>
            <a:off x="715800" y="3527521"/>
            <a:ext cx="204970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ES" dirty="0"/>
              <a:t>Medios de ejecución práctica</a:t>
            </a:r>
          </a:p>
          <a:p>
            <a:r>
              <a:rPr lang="en-ES" b="1" dirty="0"/>
              <a:t>(30%)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442357-7C55-82A7-70F9-F690EEDFFDB3}"/>
              </a:ext>
            </a:extLst>
          </p:cNvPr>
          <p:cNvSpPr txBox="1"/>
          <p:nvPr/>
        </p:nvSpPr>
        <p:spPr>
          <a:xfrm>
            <a:off x="715799" y="1607453"/>
            <a:ext cx="204970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ES" dirty="0">
                <a:latin typeface="Arial" panose="020B0604020202020204" pitchFamily="34" charset="0"/>
                <a:cs typeface="Arial" panose="020B0604020202020204" pitchFamily="34" charset="0"/>
              </a:rPr>
              <a:t>Producciones elaboradas por el estudiantado</a:t>
            </a:r>
          </a:p>
          <a:p>
            <a:pPr algn="ctr"/>
            <a:r>
              <a:rPr lang="en-ES" b="1" dirty="0">
                <a:latin typeface="Arial" panose="020B0604020202020204" pitchFamily="34" charset="0"/>
                <a:cs typeface="Arial" panose="020B0604020202020204" pitchFamily="34" charset="0"/>
              </a:rPr>
              <a:t>(30%)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6048A0C-2AFD-43C1-D74A-942AC06B1E0F}"/>
              </a:ext>
            </a:extLst>
          </p:cNvPr>
          <p:cNvGrpSpPr/>
          <p:nvPr/>
        </p:nvGrpSpPr>
        <p:grpSpPr>
          <a:xfrm>
            <a:off x="6200511" y="3517493"/>
            <a:ext cx="1987858" cy="933358"/>
            <a:chOff x="6200511" y="3517493"/>
            <a:chExt cx="1987858" cy="93335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2492A14-3370-84FF-6DAB-BB8A1E8B0A7E}"/>
                </a:ext>
              </a:extLst>
            </p:cNvPr>
            <p:cNvSpPr txBox="1"/>
            <p:nvPr/>
          </p:nvSpPr>
          <p:spPr>
            <a:xfrm>
              <a:off x="6807863" y="3517493"/>
              <a:ext cx="13805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1600" dirty="0">
                  <a:latin typeface="Arial" panose="020B0604020202020204" pitchFamily="34" charset="0"/>
                  <a:cs typeface="Arial" panose="020B0604020202020204" pitchFamily="34" charset="0"/>
                </a:rPr>
                <a:t>Presentación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FAC79AA-9FBE-7DF1-3C2C-99A57807C92B}"/>
                </a:ext>
              </a:extLst>
            </p:cNvPr>
            <p:cNvSpPr txBox="1"/>
            <p:nvPr/>
          </p:nvSpPr>
          <p:spPr>
            <a:xfrm>
              <a:off x="6807863" y="4112297"/>
              <a:ext cx="13222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dirty="0">
                  <a:latin typeface="Arial" panose="020B0604020202020204" pitchFamily="34" charset="0"/>
                  <a:cs typeface="Arial" panose="020B0604020202020204" pitchFamily="34" charset="0"/>
                </a:rPr>
                <a:t>Texto</a:t>
              </a:r>
              <a:endParaRPr lang="en-E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070836F-9A6F-83D3-882D-73EBFB23B265}"/>
                </a:ext>
              </a:extLst>
            </p:cNvPr>
            <p:cNvCxnSpPr>
              <a:stCxn id="7" idx="3"/>
              <a:endCxn id="11" idx="1"/>
            </p:cNvCxnSpPr>
            <p:nvPr/>
          </p:nvCxnSpPr>
          <p:spPr>
            <a:xfrm flipV="1">
              <a:off x="6200511" y="3686770"/>
              <a:ext cx="607352" cy="3412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A26CA32-0515-63D7-D313-4AE64B48DA6A}"/>
                </a:ext>
              </a:extLst>
            </p:cNvPr>
            <p:cNvCxnSpPr>
              <a:cxnSpLocks/>
              <a:stCxn id="7" idx="3"/>
              <a:endCxn id="12" idx="1"/>
            </p:cNvCxnSpPr>
            <p:nvPr/>
          </p:nvCxnSpPr>
          <p:spPr>
            <a:xfrm>
              <a:off x="6200511" y="4027971"/>
              <a:ext cx="607352" cy="25360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FAD6912-903B-A61E-69EE-9EA64328BD2B}"/>
              </a:ext>
            </a:extLst>
          </p:cNvPr>
          <p:cNvGrpSpPr/>
          <p:nvPr/>
        </p:nvGrpSpPr>
        <p:grpSpPr>
          <a:xfrm>
            <a:off x="2765501" y="1888285"/>
            <a:ext cx="5422868" cy="646331"/>
            <a:chOff x="2765501" y="2329708"/>
            <a:chExt cx="5422868" cy="64633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7092FDB-521E-B646-A447-B64BE5D67B04}"/>
                </a:ext>
              </a:extLst>
            </p:cNvPr>
            <p:cNvSpPr txBox="1"/>
            <p:nvPr/>
          </p:nvSpPr>
          <p:spPr>
            <a:xfrm>
              <a:off x="3848483" y="2329708"/>
              <a:ext cx="43398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ES" dirty="0">
                  <a:latin typeface="Arial" panose="020B0604020202020204" pitchFamily="34" charset="0"/>
                  <a:cs typeface="Arial" panose="020B0604020202020204" pitchFamily="34" charset="0"/>
                </a:rPr>
                <a:t>Propuesta de actividad docente coordinada (Curro). </a:t>
              </a:r>
              <a:r>
                <a:rPr lang="en-ES" b="1" dirty="0">
                  <a:latin typeface="Arial" panose="020B0604020202020204" pitchFamily="34" charset="0"/>
                  <a:cs typeface="Arial" panose="020B0604020202020204" pitchFamily="34" charset="0"/>
                </a:rPr>
                <a:t>30%</a:t>
              </a:r>
              <a:endParaRPr lang="en-E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BDE0586-BA88-3D81-8D5B-1EEC2762E6F0}"/>
                </a:ext>
              </a:extLst>
            </p:cNvPr>
            <p:cNvCxnSpPr>
              <a:cxnSpLocks/>
              <a:stCxn id="14" idx="3"/>
              <a:endCxn id="6" idx="1"/>
            </p:cNvCxnSpPr>
            <p:nvPr/>
          </p:nvCxnSpPr>
          <p:spPr>
            <a:xfrm>
              <a:off x="2765501" y="2649041"/>
              <a:ext cx="1082982" cy="3833"/>
            </a:xfrm>
            <a:prstGeom prst="straightConnector1">
              <a:avLst/>
            </a:prstGeom>
            <a:ln w="825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737B832-0BA0-04E7-48E2-1351832289EF}"/>
              </a:ext>
            </a:extLst>
          </p:cNvPr>
          <p:cNvGrpSpPr/>
          <p:nvPr/>
        </p:nvGrpSpPr>
        <p:grpSpPr>
          <a:xfrm>
            <a:off x="2765500" y="3566306"/>
            <a:ext cx="3435011" cy="923330"/>
            <a:chOff x="2765500" y="3566306"/>
            <a:chExt cx="3435011" cy="92333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D8CE7B2-2394-AD13-878F-D6C7C60C8608}"/>
                </a:ext>
              </a:extLst>
            </p:cNvPr>
            <p:cNvSpPr txBox="1"/>
            <p:nvPr/>
          </p:nvSpPr>
          <p:spPr>
            <a:xfrm>
              <a:off x="3848483" y="3566306"/>
              <a:ext cx="235202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ES" dirty="0">
                  <a:latin typeface="Arial" panose="020B0604020202020204" pitchFamily="34" charset="0"/>
                  <a:cs typeface="Arial" panose="020B0604020202020204" pitchFamily="34" charset="0"/>
                </a:rPr>
                <a:t>Seminario sobre invasiones concretas (Jaime)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9978D2F-E46C-A4D7-4BF3-BFC5D8000532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 flipV="1">
              <a:off x="2765500" y="4027971"/>
              <a:ext cx="1082983" cy="11979"/>
            </a:xfrm>
            <a:prstGeom prst="straightConnector1">
              <a:avLst/>
            </a:prstGeom>
            <a:ln w="825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0521513-0818-3FD0-2187-E422888CFEAC}"/>
              </a:ext>
            </a:extLst>
          </p:cNvPr>
          <p:cNvGrpSpPr/>
          <p:nvPr/>
        </p:nvGrpSpPr>
        <p:grpSpPr>
          <a:xfrm>
            <a:off x="2256176" y="5046211"/>
            <a:ext cx="4219542" cy="800154"/>
            <a:chOff x="2256176" y="5046211"/>
            <a:chExt cx="4219542" cy="80015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51A6A3D-853D-913F-49BB-05535101E60E}"/>
                </a:ext>
              </a:extLst>
            </p:cNvPr>
            <p:cNvSpPr txBox="1"/>
            <p:nvPr/>
          </p:nvSpPr>
          <p:spPr>
            <a:xfrm>
              <a:off x="3848482" y="5046211"/>
              <a:ext cx="26272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ES" dirty="0">
                  <a:latin typeface="Arial" panose="020B0604020202020204" pitchFamily="34" charset="0"/>
                  <a:cs typeface="Arial" panose="020B0604020202020204" pitchFamily="34" charset="0"/>
                </a:rPr>
                <a:t>Preguntas test sobre seminarios (Jaime)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9D853FD-7888-5BB0-1D6E-52EC3164E1B7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 flipV="1">
              <a:off x="2256176" y="5369377"/>
              <a:ext cx="1592306" cy="476988"/>
            </a:xfrm>
            <a:prstGeom prst="straightConnector1">
              <a:avLst/>
            </a:prstGeom>
            <a:ln w="825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71E6A6B-BEA3-7938-C4AD-CCF6610C9827}"/>
              </a:ext>
            </a:extLst>
          </p:cNvPr>
          <p:cNvGrpSpPr/>
          <p:nvPr/>
        </p:nvGrpSpPr>
        <p:grpSpPr>
          <a:xfrm>
            <a:off x="2256176" y="5846365"/>
            <a:ext cx="5440764" cy="646331"/>
            <a:chOff x="2256176" y="5846365"/>
            <a:chExt cx="5440764" cy="64633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B81254C-D966-BAD6-01E3-0E1434FB9620}"/>
                </a:ext>
              </a:extLst>
            </p:cNvPr>
            <p:cNvSpPr txBox="1"/>
            <p:nvPr/>
          </p:nvSpPr>
          <p:spPr>
            <a:xfrm>
              <a:off x="3848482" y="5846365"/>
              <a:ext cx="38484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ES" dirty="0">
                  <a:latin typeface="Arial" panose="020B0604020202020204" pitchFamily="34" charset="0"/>
                  <a:cs typeface="Arial" panose="020B0604020202020204" pitchFamily="34" charset="0"/>
                </a:rPr>
                <a:t>reguntas desarrollo sobre proyectos de erradicación (Carlos)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C8E630D-F6B2-45FB-73F4-6FF957F12743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>
              <a:off x="2256176" y="5846366"/>
              <a:ext cx="1592306" cy="323165"/>
            </a:xfrm>
            <a:prstGeom prst="straightConnector1">
              <a:avLst/>
            </a:prstGeom>
            <a:ln w="825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38463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777</TotalTime>
  <Words>311</Words>
  <Application>Microsoft Macintosh PowerPoint</Application>
  <PresentationFormat>A4 Paper (210x297 mm)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 Javier Bonet García</dc:creator>
  <cp:lastModifiedBy>Francisco Javier Bonet García</cp:lastModifiedBy>
  <cp:revision>4</cp:revision>
  <dcterms:created xsi:type="dcterms:W3CDTF">2025-01-13T07:47:17Z</dcterms:created>
  <dcterms:modified xsi:type="dcterms:W3CDTF">2026-01-12T18:02:04Z</dcterms:modified>
</cp:coreProperties>
</file>